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horzBarState="maximized">
    <p:restoredLeft sz="15611"/>
    <p:restoredTop sz="94610"/>
  </p:normalViewPr>
  <p:slideViewPr>
    <p:cSldViewPr snapToGrid="0" snapToObjects="1">
      <p:cViewPr varScale="1">
        <p:scale>
          <a:sx n="118" d="100"/>
          <a:sy n="118" d="100"/>
        </p:scale>
        <p:origin x="-418" y="-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" cy="5143500"/>
          </a:xfrm>
          <a:prstGeom prst="rect">
            <a:avLst/>
          </a:prstGeom>
          <a:solidFill>
            <a:srgbClr val="00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0" y="1371600"/>
            <a:ext cx="6400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0" b="1" kern="0" spc="1500" dirty="0">
                <a:solidFill>
                  <a:srgbClr val="182535"/>
                </a:solidFill>
              </a:rPr>
              <a:t>DATA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</a:rPr>
              <a:t>Análisis de Clientes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1600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rgbClr val="00B8A9"/>
                </a:solidFill>
              </a:rPr>
              <a:t>Tienda de Bicicletas 🚲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6400800" cy="36576"/>
          </a:xfrm>
          <a:prstGeom prst="rect">
            <a:avLst/>
          </a:prstGeom>
          <a:solidFill>
            <a:srgbClr val="7A9B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68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8D8E8"/>
                </a:solidFill>
              </a:rPr>
              <a:t>1.000 registros  ·  6 variables analizadas  ·  1 transformada (Age → Age Brackets)  ·  Microsoft Excel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i="1" dirty="0">
                <a:solidFill>
                  <a:srgbClr val="F5C518"/>
                </a:solidFill>
              </a:rPr>
              <a:t>¿Qué tipo de cliente compra una bicicleta?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4389120"/>
            <a:ext cx="1371600" cy="256032"/>
          </a:xfrm>
          <a:prstGeom prst="rect">
            <a:avLst/>
          </a:prstGeom>
          <a:solidFill>
            <a:srgbClr val="00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38912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F1923"/>
                </a:solidFill>
              </a:rPr>
              <a:t>Excel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286000" y="4389120"/>
            <a:ext cx="1371600" cy="256032"/>
          </a:xfrm>
          <a:prstGeom prst="rect">
            <a:avLst/>
          </a:prstGeom>
          <a:solidFill>
            <a:srgbClr val="007A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0" y="438912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F1923"/>
                </a:solidFill>
              </a:rPr>
              <a:t>Tablas dinámicas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794760" y="4389120"/>
            <a:ext cx="1371600" cy="256032"/>
          </a:xfrm>
          <a:prstGeom prst="rect">
            <a:avLst/>
          </a:prstGeom>
          <a:solidFill>
            <a:srgbClr val="1A3C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94760" y="438912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F1923"/>
                </a:solidFill>
              </a:rPr>
              <a:t>Dashboard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303520" y="4389120"/>
            <a:ext cx="1371600" cy="256032"/>
          </a:xfrm>
          <a:prstGeom prst="rect">
            <a:avLst/>
          </a:prstGeom>
          <a:solidFill>
            <a:srgbClr val="1A3C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0" y="438912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F1923"/>
                </a:solidFill>
              </a:rPr>
              <a:t>Segmentación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82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0B8A9"/>
                </a:solidFill>
              </a:rPr>
              <a:t>CONTEXTO &amp; PROCESO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64008" cy="1188720"/>
          </a:xfrm>
          <a:prstGeom prst="rect">
            <a:avLst/>
          </a:prstGeom>
          <a:solidFill>
            <a:srgbClr val="00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82296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Pregunta de negocio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4389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</a:rPr>
              <a:t>Identificar qué grupos de clientes tienen mayor tasa de conversión (porcentaje de personas que acaban comprando) y traducirlo en recomendaciones concretas para el negocio.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120640" y="822960"/>
            <a:ext cx="3749040" cy="1417320"/>
          </a:xfrm>
          <a:prstGeom prst="rect">
            <a:avLst/>
          </a:prstGeom>
          <a:solidFill>
            <a:srgbClr val="0D2030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120640" y="822960"/>
            <a:ext cx="64008" cy="1417320"/>
          </a:xfrm>
          <a:prstGeom prst="rect">
            <a:avLst/>
          </a:prstGeom>
          <a:solidFill>
            <a:srgbClr val="00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21808" y="8686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C518"/>
                </a:solidFill>
              </a:rPr>
              <a:t>💡 Decisión técnica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21808" y="1188720"/>
            <a:ext cx="34564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8D8E8"/>
                </a:solidFill>
              </a:rPr>
              <a:t>El % del total refleja el volumen — un grupo grande tendrá muchas compras solo por ser grande, no porque sus clientes compren más. El % por fila elimina ese efecto: muestra qué proporción de cada grupo acaba comprando, independientemente de su tamaño.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21808" y="2240280"/>
            <a:ext cx="0" cy="274320"/>
          </a:xfrm>
          <a:prstGeom prst="line">
            <a:avLst/>
          </a:prstGeom>
          <a:noFill/>
          <a:ln w="19050">
            <a:solidFill>
              <a:srgbClr val="00B8A9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340096" y="231343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7A9BB5"/>
                </a:solidFill>
              </a:rPr>
              <a:t>aplica aquí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65760" y="2514600"/>
            <a:ext cx="1965960" cy="2377440"/>
          </a:xfrm>
          <a:prstGeom prst="rect">
            <a:avLst/>
          </a:prstGeom>
          <a:solidFill>
            <a:srgbClr val="182535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8912" y="2624328"/>
            <a:ext cx="411480" cy="411480"/>
          </a:xfrm>
          <a:prstGeom prst="ellipse">
            <a:avLst/>
          </a:prstGeom>
          <a:solidFill>
            <a:srgbClr val="00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624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923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3136392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Importación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502152"/>
            <a:ext cx="1783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8E8"/>
                </a:solidFill>
              </a:rPr>
              <a:t>CSV con Unicode 65001 (evita errores con tildes). Dos hojas: datos_crudos —nunca se toca— y hoja_trabajo, donde se opera siempre.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368296" y="3703320"/>
            <a:ext cx="146304" cy="0"/>
          </a:xfrm>
          <a:prstGeom prst="line">
            <a:avLst/>
          </a:prstGeom>
          <a:noFill/>
          <a:ln w="19050">
            <a:solidFill>
              <a:srgbClr val="00B8A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42032" y="2514600"/>
            <a:ext cx="1965960" cy="2377440"/>
          </a:xfrm>
          <a:prstGeom prst="rect">
            <a:avLst/>
          </a:prstGeom>
          <a:solidFill>
            <a:srgbClr val="182535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615184" y="2624328"/>
            <a:ext cx="411480" cy="411480"/>
          </a:xfrm>
          <a:prstGeom prst="ellipse">
            <a:avLst/>
          </a:prstGeom>
          <a:solidFill>
            <a:srgbClr val="00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15184" y="2624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923"/>
                </a:solidFill>
              </a:rPr>
              <a:t>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633472" y="3136392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Limpieza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633472" y="3502152"/>
            <a:ext cx="1783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8E8"/>
                </a:solidFill>
              </a:rPr>
              <a:t>Eliminar duplicados. Renombrar siglas: M → Male, F → Female. Crear columna Age Brackets (rangos de edad) con SI anidado para segmentar por edad.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44568" y="3703320"/>
            <a:ext cx="146304" cy="0"/>
          </a:xfrm>
          <a:prstGeom prst="line">
            <a:avLst/>
          </a:prstGeom>
          <a:noFill/>
          <a:ln w="19050">
            <a:solidFill>
              <a:srgbClr val="00B8A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18304" y="2514600"/>
            <a:ext cx="1965960" cy="2377440"/>
          </a:xfrm>
          <a:prstGeom prst="rect">
            <a:avLst/>
          </a:prstGeom>
          <a:solidFill>
            <a:srgbClr val="182535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587752"/>
            <a:ext cx="484632" cy="484632"/>
          </a:xfrm>
          <a:prstGeom prst="ellipse">
            <a:avLst/>
          </a:prstGeom>
          <a:solidFill>
            <a:srgbClr val="0F1923"/>
          </a:solidFill>
          <a:ln w="25400">
            <a:solidFill>
              <a:srgbClr val="F5C51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91456" y="2624328"/>
            <a:ext cx="411480" cy="411480"/>
          </a:xfrm>
          <a:prstGeom prst="ellipse">
            <a:avLst/>
          </a:prstGeom>
          <a:solidFill>
            <a:srgbClr val="00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91456" y="2624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923"/>
                </a:solidFill>
              </a:rPr>
              <a:t>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809744" y="3136392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Tablas dinámicas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09744" y="3502152"/>
            <a:ext cx="1783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8E8"/>
                </a:solidFill>
              </a:rPr>
              <a:t>5 tablas cruzando Purchased Bike (compró o no compró) con las 6 variables: género, Age Brackets (rangos de edad), distancia al trabajo, nº de coches y región.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720840" y="3703320"/>
            <a:ext cx="146304" cy="0"/>
          </a:xfrm>
          <a:prstGeom prst="line">
            <a:avLst/>
          </a:prstGeom>
          <a:noFill/>
          <a:ln w="19050">
            <a:solidFill>
              <a:srgbClr val="00B8A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94576" y="2514600"/>
            <a:ext cx="1965960" cy="2377440"/>
          </a:xfrm>
          <a:prstGeom prst="rect">
            <a:avLst/>
          </a:prstGeom>
          <a:solidFill>
            <a:srgbClr val="182535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967728" y="2624328"/>
            <a:ext cx="411480" cy="411480"/>
          </a:xfrm>
          <a:prstGeom prst="ellipse">
            <a:avLst/>
          </a:prstGeom>
          <a:solidFill>
            <a:srgbClr val="00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67728" y="2624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923"/>
                </a:solidFill>
              </a:rPr>
              <a:t>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986016" y="3136392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Dashboard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86016" y="3502152"/>
            <a:ext cx="1783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8E8"/>
                </a:solidFill>
              </a:rPr>
              <a:t>Hoja dashboard_insights con todos los gráficos centralizados. Visión rápida del perfil del cliente comprador.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82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0B8A9"/>
                </a:solidFill>
              </a:rPr>
              <a:t>SEGMENTOS DE EDAD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207008"/>
          </a:xfrm>
          <a:prstGeom prst="rect">
            <a:avLst/>
          </a:prstGeom>
          <a:solidFill>
            <a:srgbClr val="182535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68680"/>
            <a:ext cx="64008" cy="1207008"/>
          </a:xfrm>
          <a:prstGeom prst="rect">
            <a:avLst/>
          </a:prstGeom>
          <a:solidFill>
            <a:srgbClr val="00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60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00" b="1" dirty="0" smtClean="0">
                <a:solidFill>
                  <a:srgbClr val="FFFFFF"/>
                </a:solidFill>
              </a:rPr>
              <a:t>🏆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960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Adult Rider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1325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BB5"/>
                </a:solidFill>
              </a:rPr>
              <a:t>36–50 años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05840" y="1645920"/>
            <a:ext cx="5029200" cy="201168"/>
          </a:xfrm>
          <a:prstGeom prst="rect">
            <a:avLst/>
          </a:prstGeom>
          <a:solidFill>
            <a:srgbClr val="1E33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1645920"/>
            <a:ext cx="2750972" cy="201168"/>
          </a:xfrm>
          <a:prstGeom prst="rect">
            <a:avLst/>
          </a:prstGeom>
          <a:solidFill>
            <a:srgbClr val="00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89320" y="94183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B8A9"/>
                </a:solidFill>
              </a:rPr>
              <a:t>54.7%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989320" y="13990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BB5"/>
                </a:solidFill>
              </a:rPr>
              <a:t>compran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95160" y="96012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</a:rPr>
              <a:t>Motor de ventas. Más de 5 de cada 10 compran. Segmento prioritario en publicidad.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240280"/>
            <a:ext cx="8595360" cy="1207008"/>
          </a:xfrm>
          <a:prstGeom prst="rect">
            <a:avLst/>
          </a:prstGeom>
          <a:solidFill>
            <a:srgbClr val="182535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240280"/>
            <a:ext cx="64008" cy="1207008"/>
          </a:xfrm>
          <a:prstGeom prst="rect">
            <a:avLst/>
          </a:prstGeom>
          <a:solidFill>
            <a:srgbClr val="00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005840" y="2331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Young Rider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0584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BB5"/>
                </a:solidFill>
              </a:rPr>
              <a:t>&lt; 36 años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05840" y="3017520"/>
            <a:ext cx="5029200" cy="201168"/>
          </a:xfrm>
          <a:prstGeom prst="rect">
            <a:avLst/>
          </a:prstGeom>
          <a:solidFill>
            <a:srgbClr val="1E33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5840" y="3017520"/>
            <a:ext cx="2258111" cy="201168"/>
          </a:xfrm>
          <a:prstGeom prst="rect">
            <a:avLst/>
          </a:prstGeom>
          <a:solidFill>
            <a:srgbClr val="F5C51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89320" y="231343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5C518"/>
                </a:solidFill>
              </a:rPr>
              <a:t>44.9%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5989320" y="27706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BB5"/>
                </a:solidFill>
              </a:rPr>
              <a:t>compran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995160" y="233172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</a:rPr>
              <a:t>La bici es frecuentemente su único medio de transporte.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74320" y="3611880"/>
            <a:ext cx="8595360" cy="1207008"/>
          </a:xfrm>
          <a:prstGeom prst="rect">
            <a:avLst/>
          </a:prstGeom>
          <a:solidFill>
            <a:srgbClr val="182535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3611880"/>
            <a:ext cx="64008" cy="1207008"/>
          </a:xfrm>
          <a:prstGeom prst="rect">
            <a:avLst/>
          </a:prstGeom>
          <a:solidFill>
            <a:srgbClr val="00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703320"/>
            <a:ext cx="5486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00" b="1" dirty="0" smtClean="0">
                <a:solidFill>
                  <a:srgbClr val="FFFFFF"/>
                </a:solidFill>
              </a:rPr>
              <a:t>⚡</a:t>
            </a:r>
            <a:endParaRPr lang="en-US" sz="2200" dirty="0" smtClean="0"/>
          </a:p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005840" y="3703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Senior Rider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005840" y="40690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BB5"/>
                </a:solidFill>
              </a:rPr>
              <a:t>51+ años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005840" y="4389120"/>
            <a:ext cx="5029200" cy="201168"/>
          </a:xfrm>
          <a:prstGeom prst="rect">
            <a:avLst/>
          </a:prstGeom>
          <a:solidFill>
            <a:srgbClr val="1E33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05840" y="4389120"/>
            <a:ext cx="2006651" cy="201168"/>
          </a:xfrm>
          <a:prstGeom prst="rect">
            <a:avLst/>
          </a:prstGeom>
          <a:solidFill>
            <a:srgbClr val="FF8B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89320" y="368503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8B4C"/>
                </a:solidFill>
              </a:rPr>
              <a:t>39.9%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989320" y="41422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BB5"/>
                </a:solidFill>
              </a:rPr>
              <a:t>compran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95160" y="370332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</a:rPr>
              <a:t>Tasa de rechazo del 60%. Los que viven cerca prefieren caminar; los que viven lejos ven el esfuerzo físico como barrera. Solución: bici eléctrica.</a:t>
            </a:r>
            <a:endParaRPr lang="en-US" sz="950" dirty="0"/>
          </a:p>
        </p:txBody>
      </p:sp>
      <p:sp>
        <p:nvSpPr>
          <p:cNvPr id="34" name="Text 4"/>
          <p:cNvSpPr/>
          <p:nvPr/>
        </p:nvSpPr>
        <p:spPr>
          <a:xfrm>
            <a:off x="457200" y="23591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200" dirty="0"/>
          </a:p>
        </p:txBody>
      </p:sp>
      <p:sp>
        <p:nvSpPr>
          <p:cNvPr id="35" name="Text 24"/>
          <p:cNvSpPr/>
          <p:nvPr/>
        </p:nvSpPr>
        <p:spPr>
          <a:xfrm>
            <a:off x="457200" y="2372868"/>
            <a:ext cx="457200" cy="3977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00" b="1" dirty="0" smtClean="0">
                <a:solidFill>
                  <a:srgbClr val="FFFFFF"/>
                </a:solidFill>
              </a:rPr>
              <a:t>🚀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82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0B8A9"/>
                </a:solidFill>
              </a:rPr>
              <a:t>REGIÓN &amp; GÉNERO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64008" cy="502920"/>
          </a:xfrm>
          <a:prstGeom prst="rect">
            <a:avLst/>
          </a:prstGeom>
          <a:solidFill>
            <a:srgbClr val="00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Distribución por región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74320" y="14630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Pacific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BB5"/>
                </a:solidFill>
              </a:rPr>
              <a:t>11% del total de clientes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31720" y="1554480"/>
            <a:ext cx="1828800" cy="201168"/>
          </a:xfrm>
          <a:prstGeom prst="rect">
            <a:avLst/>
          </a:prstGeom>
          <a:solidFill>
            <a:srgbClr val="1E33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31720" y="1554480"/>
            <a:ext cx="1078992" cy="201168"/>
          </a:xfrm>
          <a:prstGeom prst="rect">
            <a:avLst/>
          </a:prstGeom>
          <a:solidFill>
            <a:srgbClr val="00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0" y="15087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8A9"/>
                </a:solidFill>
              </a:rPr>
              <a:t>59%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74320" y="24688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Europe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4320" y="278892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BB5"/>
                </a:solidFill>
              </a:rPr>
              <a:t>15% del total de clientes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331720" y="2560320"/>
            <a:ext cx="1828800" cy="201168"/>
          </a:xfrm>
          <a:prstGeom prst="rect">
            <a:avLst/>
          </a:prstGeom>
          <a:solidFill>
            <a:srgbClr val="1E33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31720" y="2560320"/>
            <a:ext cx="896112" cy="201168"/>
          </a:xfrm>
          <a:prstGeom prst="rect">
            <a:avLst/>
          </a:prstGeom>
          <a:solidFill>
            <a:srgbClr val="F5C51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25146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C518"/>
                </a:solidFill>
              </a:rPr>
              <a:t>49%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74320" y="34747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North America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4320" y="37947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BB5"/>
                </a:solidFill>
              </a:rPr>
              <a:t>22% del total de clientes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331720" y="3566160"/>
            <a:ext cx="1828800" cy="201168"/>
          </a:xfrm>
          <a:prstGeom prst="rect">
            <a:avLst/>
          </a:prstGeom>
          <a:solidFill>
            <a:srgbClr val="1E33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31720" y="3566160"/>
            <a:ext cx="786384" cy="201168"/>
          </a:xfrm>
          <a:prstGeom prst="rect">
            <a:avLst/>
          </a:prstGeom>
          <a:solidFill>
            <a:srgbClr val="FF8B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06240" y="35204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8B4C"/>
                </a:solidFill>
              </a:rPr>
              <a:t>43%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74320" y="4297680"/>
            <a:ext cx="4297680" cy="640080"/>
          </a:xfrm>
          <a:prstGeom prst="rect">
            <a:avLst/>
          </a:prstGeom>
          <a:solidFill>
            <a:srgbClr val="0D2030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4297680"/>
            <a:ext cx="64008" cy="640080"/>
          </a:xfrm>
          <a:prstGeom prst="rect">
            <a:avLst/>
          </a:prstGeom>
          <a:solidFill>
            <a:srgbClr val="00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29768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5C518"/>
                </a:solidFill>
              </a:rPr>
              <a:t>Pacific es el mercado más pequeño (11%) pero donde más gente acaba comprando (59%). Oportunidad: aumentar inversión publicitaria.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822960"/>
            <a:ext cx="0" cy="4114800"/>
          </a:xfrm>
          <a:prstGeom prst="line">
            <a:avLst/>
          </a:prstGeom>
          <a:noFill/>
          <a:ln w="19050">
            <a:solidFill>
              <a:srgbClr val="1E334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937760" y="822960"/>
            <a:ext cx="64008" cy="502920"/>
          </a:xfrm>
          <a:prstGeom prst="rect">
            <a:avLst/>
          </a:prstGeom>
          <a:solidFill>
            <a:srgbClr val="00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0" y="8229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Comportamiento por género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029200" y="1508760"/>
            <a:ext cx="1645920" cy="1645920"/>
          </a:xfrm>
          <a:prstGeom prst="ellipse">
            <a:avLst/>
          </a:prstGeom>
          <a:solidFill>
            <a:srgbClr val="182535"/>
          </a:solidFill>
          <a:ln w="38100">
            <a:solidFill>
              <a:srgbClr val="00B8A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0" y="150876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8A9"/>
                </a:solidFill>
              </a:rPr>
              <a:t>47%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5029200" y="233172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D8E8"/>
                </a:solidFill>
              </a:rPr>
              <a:t>Hombres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949440" y="1508760"/>
            <a:ext cx="1645920" cy="1645920"/>
          </a:xfrm>
          <a:prstGeom prst="ellipse">
            <a:avLst/>
          </a:prstGeom>
          <a:solidFill>
            <a:srgbClr val="182535"/>
          </a:solidFill>
          <a:ln w="38100">
            <a:solidFill>
              <a:srgbClr val="F5C51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49440" y="150876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C518"/>
                </a:solidFill>
              </a:rPr>
              <a:t>49%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6949440" y="233172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D8E8"/>
                </a:solidFill>
              </a:rPr>
              <a:t>Mujeres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29200" y="32461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9BB5"/>
                </a:solidFill>
              </a:rPr>
              <a:t>compran bici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937760" y="3749040"/>
            <a:ext cx="3840480" cy="594360"/>
          </a:xfrm>
          <a:prstGeom prst="rect">
            <a:avLst/>
          </a:prstGeom>
          <a:solidFill>
            <a:srgbClr val="0D2030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937760" y="3749040"/>
            <a:ext cx="64008" cy="594360"/>
          </a:xfrm>
          <a:prstGeom prst="rect">
            <a:avLst/>
          </a:prstGeom>
          <a:solidFill>
            <a:srgbClr val="00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20640" y="374904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</a:rPr>
              <a:t>El género no es un factor determinante. La oferta es atractiva para ambos perfiles por igual.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82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0B8A9"/>
                </a:solidFill>
              </a:rPr>
              <a:t>ESTRUCTURA DEL LIBRO EXCEL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114800" cy="676656"/>
          </a:xfrm>
          <a:prstGeom prst="rect">
            <a:avLst/>
          </a:prstGeom>
          <a:solidFill>
            <a:srgbClr val="182535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54864" cy="676656"/>
          </a:xfrm>
          <a:prstGeom prst="rect">
            <a:avLst/>
          </a:prstGeom>
          <a:solidFill>
            <a:srgbClr val="7A9B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89611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datos_crudos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" y="117043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</a:rPr>
              <a:t>Dataset original. Nunca se modifica.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4320" y="1609344"/>
            <a:ext cx="4114800" cy="676656"/>
          </a:xfrm>
          <a:prstGeom prst="rect">
            <a:avLst/>
          </a:prstGeom>
          <a:solidFill>
            <a:srgbClr val="182535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609344"/>
            <a:ext cx="54864" cy="676656"/>
          </a:xfrm>
          <a:prstGeom prst="rect">
            <a:avLst/>
          </a:prstGeom>
          <a:solidFill>
            <a:srgbClr val="00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68249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hoja_trabajo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" y="195681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</a:rPr>
              <a:t>Copia limpia. Todo el trabajo se opera aquí.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2395728"/>
            <a:ext cx="4114800" cy="676656"/>
          </a:xfrm>
          <a:prstGeom prst="rect">
            <a:avLst/>
          </a:prstGeom>
          <a:solidFill>
            <a:srgbClr val="182535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395728"/>
            <a:ext cx="54864" cy="676656"/>
          </a:xfrm>
          <a:prstGeom prst="rect">
            <a:avLst/>
          </a:prstGeom>
          <a:solidFill>
            <a:srgbClr val="7A9B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24688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leyenda_variables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" y="274320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</a:rPr>
              <a:t>Descripción de cada variable del dataset.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3182112"/>
            <a:ext cx="4114800" cy="676656"/>
          </a:xfrm>
          <a:prstGeom prst="rect">
            <a:avLst/>
          </a:prstGeom>
          <a:solidFill>
            <a:srgbClr val="182535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182112"/>
            <a:ext cx="54864" cy="676656"/>
          </a:xfrm>
          <a:prstGeom prst="rect">
            <a:avLst/>
          </a:prstGeom>
          <a:solidFill>
            <a:srgbClr val="F5C51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3255264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tabla_género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5488" y="352958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dirty="0" err="1" smtClean="0">
                <a:solidFill>
                  <a:srgbClr val="C8D8E8"/>
                </a:solidFill>
              </a:rPr>
              <a:t>Tabla</a:t>
            </a:r>
            <a:r>
              <a:rPr lang="en-US" sz="950" dirty="0" smtClean="0">
                <a:solidFill>
                  <a:srgbClr val="C8D8E8"/>
                </a:solidFill>
              </a:rPr>
              <a:t> </a:t>
            </a:r>
            <a:r>
              <a:rPr lang="en-US" sz="950" dirty="0" err="1" smtClean="0">
                <a:solidFill>
                  <a:srgbClr val="C8D8E8"/>
                </a:solidFill>
              </a:rPr>
              <a:t>dinámica</a:t>
            </a:r>
            <a:r>
              <a:rPr lang="en-US" sz="950" dirty="0" smtClean="0">
                <a:solidFill>
                  <a:srgbClr val="C8D8E8"/>
                </a:solidFill>
              </a:rPr>
              <a:t>: </a:t>
            </a:r>
            <a:r>
              <a:rPr lang="en-US" sz="950" dirty="0" err="1" smtClean="0">
                <a:solidFill>
                  <a:srgbClr val="C8D8E8"/>
                </a:solidFill>
              </a:rPr>
              <a:t>c</a:t>
            </a:r>
            <a:r>
              <a:rPr lang="en-US" sz="950" dirty="0" err="1" smtClean="0">
                <a:solidFill>
                  <a:srgbClr val="C8D8E8"/>
                </a:solidFill>
              </a:rPr>
              <a:t>ompras</a:t>
            </a:r>
            <a:r>
              <a:rPr lang="en-US" sz="950" dirty="0" smtClean="0">
                <a:solidFill>
                  <a:srgbClr val="C8D8E8"/>
                </a:solidFill>
              </a:rPr>
              <a:t> </a:t>
            </a:r>
            <a:r>
              <a:rPr lang="en-US" sz="950" dirty="0">
                <a:solidFill>
                  <a:srgbClr val="C8D8E8"/>
                </a:solidFill>
              </a:rPr>
              <a:t>por género.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3968496"/>
            <a:ext cx="4114800" cy="676656"/>
          </a:xfrm>
          <a:prstGeom prst="rect">
            <a:avLst/>
          </a:prstGeom>
          <a:solidFill>
            <a:srgbClr val="182535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3968496"/>
            <a:ext cx="54864" cy="676656"/>
          </a:xfrm>
          <a:prstGeom prst="rect">
            <a:avLst/>
          </a:prstGeom>
          <a:solidFill>
            <a:srgbClr val="F5C51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40416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tabla_edad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" y="43159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dirty="0" err="1" smtClean="0">
                <a:solidFill>
                  <a:srgbClr val="C8D8E8"/>
                </a:solidFill>
              </a:rPr>
              <a:t>Tabla</a:t>
            </a:r>
            <a:r>
              <a:rPr lang="en-US" sz="950" dirty="0" smtClean="0">
                <a:solidFill>
                  <a:srgbClr val="C8D8E8"/>
                </a:solidFill>
              </a:rPr>
              <a:t> </a:t>
            </a:r>
            <a:r>
              <a:rPr lang="en-US" sz="950" dirty="0" err="1" smtClean="0">
                <a:solidFill>
                  <a:srgbClr val="C8D8E8"/>
                </a:solidFill>
              </a:rPr>
              <a:t>dinámica</a:t>
            </a:r>
            <a:r>
              <a:rPr lang="en-US" sz="950" dirty="0" smtClean="0">
                <a:solidFill>
                  <a:srgbClr val="C8D8E8"/>
                </a:solidFill>
              </a:rPr>
              <a:t>: </a:t>
            </a:r>
            <a:r>
              <a:rPr lang="en-US" sz="950" dirty="0" err="1" smtClean="0">
                <a:solidFill>
                  <a:srgbClr val="C8D8E8"/>
                </a:solidFill>
              </a:rPr>
              <a:t>compras</a:t>
            </a:r>
            <a:r>
              <a:rPr lang="en-US" sz="950" dirty="0" smtClean="0">
                <a:solidFill>
                  <a:srgbClr val="C8D8E8"/>
                </a:solidFill>
              </a:rPr>
              <a:t> </a:t>
            </a:r>
            <a:r>
              <a:rPr lang="en-US" sz="950" dirty="0">
                <a:solidFill>
                  <a:srgbClr val="C8D8E8"/>
                </a:solidFill>
              </a:rPr>
              <a:t>por grupo de edad.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54880" y="822960"/>
            <a:ext cx="4114800" cy="676656"/>
          </a:xfrm>
          <a:prstGeom prst="rect">
            <a:avLst/>
          </a:prstGeom>
          <a:solidFill>
            <a:srgbClr val="182535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822960"/>
            <a:ext cx="54864" cy="676656"/>
          </a:xfrm>
          <a:prstGeom prst="rect">
            <a:avLst/>
          </a:prstGeom>
          <a:solidFill>
            <a:srgbClr val="F5C51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6048" y="89611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tabla_millas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56048" y="117043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dirty="0" err="1" smtClean="0">
                <a:solidFill>
                  <a:srgbClr val="C8D8E8"/>
                </a:solidFill>
              </a:rPr>
              <a:t>Tabla</a:t>
            </a:r>
            <a:r>
              <a:rPr lang="en-US" sz="950" dirty="0" smtClean="0">
                <a:solidFill>
                  <a:srgbClr val="C8D8E8"/>
                </a:solidFill>
              </a:rPr>
              <a:t> </a:t>
            </a:r>
            <a:r>
              <a:rPr lang="en-US" sz="950" dirty="0" err="1" smtClean="0">
                <a:solidFill>
                  <a:srgbClr val="C8D8E8"/>
                </a:solidFill>
              </a:rPr>
              <a:t>dinámica</a:t>
            </a:r>
            <a:r>
              <a:rPr lang="en-US" sz="950" dirty="0" smtClean="0">
                <a:solidFill>
                  <a:srgbClr val="C8D8E8"/>
                </a:solidFill>
              </a:rPr>
              <a:t>: </a:t>
            </a:r>
            <a:r>
              <a:rPr lang="en-US" sz="950" dirty="0" err="1" smtClean="0">
                <a:solidFill>
                  <a:srgbClr val="C8D8E8"/>
                </a:solidFill>
              </a:rPr>
              <a:t>distancia</a:t>
            </a:r>
            <a:r>
              <a:rPr lang="en-US" sz="950" dirty="0" smtClean="0">
                <a:solidFill>
                  <a:srgbClr val="C8D8E8"/>
                </a:solidFill>
              </a:rPr>
              <a:t> </a:t>
            </a:r>
            <a:r>
              <a:rPr lang="en-US" sz="950" dirty="0">
                <a:solidFill>
                  <a:srgbClr val="C8D8E8"/>
                </a:solidFill>
              </a:rPr>
              <a:t>al trabajo.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54880" y="1609344"/>
            <a:ext cx="4114800" cy="676656"/>
          </a:xfrm>
          <a:prstGeom prst="rect">
            <a:avLst/>
          </a:prstGeom>
          <a:solidFill>
            <a:srgbClr val="182535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54880" y="1609344"/>
            <a:ext cx="54864" cy="676656"/>
          </a:xfrm>
          <a:prstGeom prst="rect">
            <a:avLst/>
          </a:prstGeom>
          <a:solidFill>
            <a:srgbClr val="F5C51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56048" y="168249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tabla_coches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956048" y="195681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dirty="0" err="1" smtClean="0">
                <a:solidFill>
                  <a:srgbClr val="C8D8E8"/>
                </a:solidFill>
              </a:rPr>
              <a:t>Tabla</a:t>
            </a:r>
            <a:r>
              <a:rPr lang="en-US" sz="950" dirty="0" smtClean="0">
                <a:solidFill>
                  <a:srgbClr val="C8D8E8"/>
                </a:solidFill>
              </a:rPr>
              <a:t> </a:t>
            </a:r>
            <a:r>
              <a:rPr lang="en-US" sz="950" dirty="0" err="1" smtClean="0">
                <a:solidFill>
                  <a:srgbClr val="C8D8E8"/>
                </a:solidFill>
              </a:rPr>
              <a:t>dinámica</a:t>
            </a:r>
            <a:r>
              <a:rPr lang="en-US" sz="950" dirty="0" smtClean="0">
                <a:solidFill>
                  <a:srgbClr val="C8D8E8"/>
                </a:solidFill>
              </a:rPr>
              <a:t>: </a:t>
            </a:r>
            <a:r>
              <a:rPr lang="en-US" sz="950" dirty="0" err="1" smtClean="0">
                <a:solidFill>
                  <a:srgbClr val="C8D8E8"/>
                </a:solidFill>
              </a:rPr>
              <a:t>número</a:t>
            </a:r>
            <a:r>
              <a:rPr lang="en-US" sz="950" dirty="0" smtClean="0">
                <a:solidFill>
                  <a:srgbClr val="C8D8E8"/>
                </a:solidFill>
              </a:rPr>
              <a:t> </a:t>
            </a:r>
            <a:r>
              <a:rPr lang="en-US" sz="950" dirty="0">
                <a:solidFill>
                  <a:srgbClr val="C8D8E8"/>
                </a:solidFill>
              </a:rPr>
              <a:t>de coches en el hogar.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54880" y="2395728"/>
            <a:ext cx="4114800" cy="676656"/>
          </a:xfrm>
          <a:prstGeom prst="rect">
            <a:avLst/>
          </a:prstGeom>
          <a:solidFill>
            <a:srgbClr val="182535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754880" y="2395728"/>
            <a:ext cx="54864" cy="676656"/>
          </a:xfrm>
          <a:prstGeom prst="rect">
            <a:avLst/>
          </a:prstGeom>
          <a:solidFill>
            <a:srgbClr val="F5C51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56048" y="24688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tabla_regiones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956048" y="274320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dirty="0" err="1" smtClean="0">
                <a:solidFill>
                  <a:srgbClr val="C8D8E8"/>
                </a:solidFill>
              </a:rPr>
              <a:t>Tabla</a:t>
            </a:r>
            <a:r>
              <a:rPr lang="en-US" sz="950" dirty="0" smtClean="0">
                <a:solidFill>
                  <a:srgbClr val="C8D8E8"/>
                </a:solidFill>
              </a:rPr>
              <a:t> </a:t>
            </a:r>
            <a:r>
              <a:rPr lang="en-US" sz="950" dirty="0" err="1" smtClean="0">
                <a:solidFill>
                  <a:srgbClr val="C8D8E8"/>
                </a:solidFill>
              </a:rPr>
              <a:t>dinámica</a:t>
            </a:r>
            <a:r>
              <a:rPr lang="en-US" sz="950" dirty="0" smtClean="0">
                <a:solidFill>
                  <a:srgbClr val="C8D8E8"/>
                </a:solidFill>
              </a:rPr>
              <a:t>: </a:t>
            </a:r>
            <a:r>
              <a:rPr lang="en-US" sz="950" dirty="0" err="1" smtClean="0">
                <a:solidFill>
                  <a:srgbClr val="C8D8E8"/>
                </a:solidFill>
              </a:rPr>
              <a:t>distribución</a:t>
            </a:r>
            <a:r>
              <a:rPr lang="en-US" sz="950" dirty="0" smtClean="0">
                <a:solidFill>
                  <a:srgbClr val="C8D8E8"/>
                </a:solidFill>
              </a:rPr>
              <a:t> </a:t>
            </a:r>
            <a:r>
              <a:rPr lang="en-US" sz="950" dirty="0">
                <a:solidFill>
                  <a:srgbClr val="C8D8E8"/>
                </a:solidFill>
              </a:rPr>
              <a:t>geográfica.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754880" y="3182112"/>
            <a:ext cx="4114800" cy="676656"/>
          </a:xfrm>
          <a:prstGeom prst="rect">
            <a:avLst/>
          </a:prstGeom>
          <a:solidFill>
            <a:srgbClr val="182535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754880" y="3182112"/>
            <a:ext cx="54864" cy="676656"/>
          </a:xfrm>
          <a:prstGeom prst="rect">
            <a:avLst/>
          </a:prstGeom>
          <a:solidFill>
            <a:srgbClr val="00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6048" y="3255264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dashboard_insights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956048" y="352958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8E8"/>
                </a:solidFill>
              </a:rPr>
              <a:t>Radiografía del cliente comprador. Todos los gráficos.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F1923"/>
                </a:solidFill>
              </a:rPr>
              <a:t>CONCLUSIONES &amp; RECOMENDACIONES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4114800" cy="1508760"/>
          </a:xfrm>
          <a:prstGeom prst="rect">
            <a:avLst/>
          </a:prstGeom>
          <a:solidFill>
            <a:srgbClr val="182535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188720"/>
            <a:ext cx="64008" cy="1508760"/>
          </a:xfrm>
          <a:prstGeom prst="rect">
            <a:avLst/>
          </a:prstGeom>
          <a:solidFill>
            <a:srgbClr val="00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1298448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🏆 Adult Rider es el motor de ventas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38912" y="169164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</a:rPr>
              <a:t>Más de 5 de cada 10 compran. Priorizar este grupo en campañas publicitarias. Retorno más predecible.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188720"/>
            <a:ext cx="4114800" cy="1508760"/>
          </a:xfrm>
          <a:prstGeom prst="rect">
            <a:avLst/>
          </a:prstGeom>
          <a:solidFill>
            <a:srgbClr val="182535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188720"/>
            <a:ext cx="64008" cy="1508760"/>
          </a:xfrm>
          <a:prstGeom prst="rect">
            <a:avLst/>
          </a:prstGeom>
          <a:solidFill>
            <a:srgbClr val="F5C51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10912" y="1298448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🚀 Young Rider tiene una necesidad real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10912" y="169164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</a:rPr>
              <a:t>La bici es su principal medio de transporte. Ofrecer el primer año de mantenimiento gratuito como palanca de cierre de venta.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880360"/>
            <a:ext cx="4114800" cy="1508760"/>
          </a:xfrm>
          <a:prstGeom prst="rect">
            <a:avLst/>
          </a:prstGeom>
          <a:solidFill>
            <a:srgbClr val="182535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880360"/>
            <a:ext cx="64008" cy="1508760"/>
          </a:xfrm>
          <a:prstGeom prst="rect">
            <a:avLst/>
          </a:prstGeom>
          <a:solidFill>
            <a:srgbClr val="FF8B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2990088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⚡ Senior Rider → bicicleta eléctrica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8912" y="338328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</a:rPr>
              <a:t>Tasa de rechazo del 60%. La bici eléctrica elimina la barrera del esfuerzo físico y amplía el radio de desplazamiento.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2880360"/>
            <a:ext cx="4114800" cy="1508760"/>
          </a:xfrm>
          <a:prstGeom prst="rect">
            <a:avLst/>
          </a:prstGeom>
          <a:solidFill>
            <a:srgbClr val="182535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2880360"/>
            <a:ext cx="64008" cy="1508760"/>
          </a:xfrm>
          <a:prstGeom prst="rect">
            <a:avLst/>
          </a:prstGeom>
          <a:solidFill>
            <a:srgbClr val="3DFA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10912" y="2990088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🌏 Pacific: pequeño pero de alto valor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10912" y="338328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</a:rPr>
              <a:t>Solo el 11% de los clientes, pero el 59% compra. Aumentar inversión publicitaria en esta región ofrece un ROI (retorno sobre la inversión) alto.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4663440"/>
            <a:ext cx="8595360" cy="320040"/>
          </a:xfrm>
          <a:prstGeom prst="rect">
            <a:avLst/>
          </a:prstGeom>
          <a:solidFill>
            <a:srgbClr val="07181F"/>
          </a:solidFill>
          <a:ln w="12700">
            <a:solidFill>
              <a:srgbClr val="00B8A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" y="466344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BB5"/>
                </a:solidFill>
              </a:rPr>
              <a:t>⚠️ Limitación: dataset simulado. Con datos reales, lo primero sería entender el problema de negocio antes de tocar los datos.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" cy="5143500"/>
          </a:xfrm>
          <a:prstGeom prst="rect">
            <a:avLst/>
          </a:prstGeom>
          <a:solidFill>
            <a:srgbClr val="00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09728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</a:rPr>
              <a:t>Gracias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23317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B8A9"/>
                </a:solidFill>
              </a:rPr>
              <a:t>Proyecto disponible en GitHub / Portfolio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926080"/>
            <a:ext cx="4572000" cy="36576"/>
          </a:xfrm>
          <a:prstGeom prst="rect">
            <a:avLst/>
          </a:prstGeom>
          <a:solidFill>
            <a:srgbClr val="7A9B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0632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BB5"/>
                </a:solidFill>
              </a:rPr>
              <a:t>Dataset: </a:t>
            </a:r>
            <a:r>
              <a:rPr lang="en-US" sz="1100" dirty="0">
                <a:solidFill>
                  <a:srgbClr val="C8D8E8"/>
                </a:solidFill>
              </a:rPr>
              <a:t>Alex The Analyst 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3474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BB5"/>
                </a:solidFill>
              </a:rPr>
              <a:t>Herramienta: </a:t>
            </a:r>
            <a:r>
              <a:rPr lang="en-US" sz="1100" dirty="0">
                <a:solidFill>
                  <a:srgbClr val="C8D8E8"/>
                </a:solidFill>
              </a:rPr>
              <a:t>Microsoft Excel  ·  Tablas dinámicas  ·  Dashboard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0" y="320040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dirty="0">
                <a:solidFill>
                  <a:srgbClr val="000000"/>
                </a:solidFill>
              </a:rPr>
              <a:t>🚲</a:t>
            </a:r>
            <a:endParaRPr lang="en-US" sz="7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681</Words>
  <Application>Microsoft Office PowerPoint</Application>
  <PresentationFormat>Presentación en pantalla (16:9)</PresentationFormat>
  <Paragraphs>106</Paragraphs>
  <Slides>7</Slides>
  <Notes>7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8" baseType="lpstr">
      <vt:lpstr>Office Theme</vt:lpstr>
      <vt:lpstr>Diapositiva 1</vt:lpstr>
      <vt:lpstr>Diapositiva 2</vt:lpstr>
      <vt:lpstr>Diapositiva 3</vt:lpstr>
      <vt:lpstr>Diapositiva 4</vt:lpstr>
      <vt:lpstr>Diapositiva 5</vt:lpstr>
      <vt:lpstr>Diapositiva 6</vt:lpstr>
      <vt:lpstr>Diapositiva 7</vt:lpstr>
    </vt:vector>
  </TitlesOfParts>
  <Company>PptxGenJS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de Clientes — Tienda de Bicicletas</dc:title>
  <dc:subject>PptxGenJS Presentation</dc:subject>
  <dc:creator>PptxGenJS</dc:creator>
  <cp:lastModifiedBy>USER</cp:lastModifiedBy>
  <cp:revision>3</cp:revision>
  <dcterms:created xsi:type="dcterms:W3CDTF">2026-03-24T10:42:13Z</dcterms:created>
  <dcterms:modified xsi:type="dcterms:W3CDTF">2026-03-24T11:20:04Z</dcterms:modified>
</cp:coreProperties>
</file>