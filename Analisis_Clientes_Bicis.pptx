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-418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kern="0" spc="1500" dirty="0">
                <a:solidFill>
                  <a:srgbClr val="182535"/>
                </a:solidFill>
              </a:rPr>
              <a:t>DATA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Análisis de Clientes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B8A9"/>
                </a:solidFill>
              </a:rPr>
              <a:t>Tienda de Bicicletas 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6400800" cy="36576"/>
          </a:xfrm>
          <a:prstGeom prst="rect">
            <a:avLst/>
          </a:prstGeom>
          <a:solidFill>
            <a:srgbClr val="7A9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8E8"/>
                </a:solidFill>
              </a:rPr>
              <a:t>1.000 registros  ·  6 variables analizadas  ·  1 transformada (Age → Age Brackets)  ·  Microsoft 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5C518"/>
                </a:solidFill>
              </a:rPr>
              <a:t>¿Qué tipo de cliente compra una bicicleta?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389120"/>
            <a:ext cx="1371600" cy="256032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</a:rPr>
              <a:t>Excel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0" y="4389120"/>
            <a:ext cx="1371600" cy="256032"/>
          </a:xfrm>
          <a:prstGeom prst="rect">
            <a:avLst/>
          </a:prstGeom>
          <a:solidFill>
            <a:srgbClr val="007A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</a:rPr>
              <a:t>Tablas dinámicas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94760" y="4389120"/>
            <a:ext cx="1371600" cy="256032"/>
          </a:xfrm>
          <a:prstGeom prst="rect">
            <a:avLst/>
          </a:prstGeom>
          <a:solidFill>
            <a:srgbClr val="1A3C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</a:rPr>
              <a:t>Dashboard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4389120"/>
            <a:ext cx="1371600" cy="256032"/>
          </a:xfrm>
          <a:prstGeom prst="rect">
            <a:avLst/>
          </a:prstGeom>
          <a:solidFill>
            <a:srgbClr val="1A3C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923"/>
                </a:solidFill>
              </a:rPr>
              <a:t>Segmentación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8A9"/>
                </a:solidFill>
              </a:rPr>
              <a:t>CONTEXTO &amp; PROCESO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64008" cy="118872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Pregunta de negocio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Identificar qué grupos de clientes tienen mayor tasa de conversión (porcentaje de personas que acaban comprando) y traducirlo en recomendaciones concretas para el negocio.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822960"/>
            <a:ext cx="3749040" cy="1417320"/>
          </a:xfrm>
          <a:prstGeom prst="rect">
            <a:avLst/>
          </a:prstGeom>
          <a:solidFill>
            <a:srgbClr val="0D2030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822960"/>
            <a:ext cx="64008" cy="141732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1808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💡 Decisión técnica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21808" y="1188720"/>
            <a:ext cx="3456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D8E8"/>
                </a:solidFill>
              </a:rPr>
              <a:t>El % del total refleja el volumen — un grupo grande tendrá muchas compras solo por ser grande, no porque sus clientes compren más. El % por fila elimina ese efecto: muestra qué proporción de cada grupo acaba comprando, independientemente de su tamaño.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1808" y="2240280"/>
            <a:ext cx="0" cy="274320"/>
          </a:xfrm>
          <a:prstGeom prst="line">
            <a:avLst/>
          </a:prstGeom>
          <a:noFill/>
          <a:ln w="19050">
            <a:solidFill>
              <a:srgbClr val="00B8A9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340096" y="231343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BB5"/>
                </a:solidFill>
              </a:rPr>
              <a:t>aplica aquí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1965960" cy="237744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2624328"/>
            <a:ext cx="411480" cy="4114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Importación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0215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CSV con Unicode 65001 (evita errores con tildes). Dos hojas: datos_crudos —nunca se toca— y hoja_trabajo, donde se opera siempre.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68296" y="3703320"/>
            <a:ext cx="146304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2514600"/>
            <a:ext cx="1965960" cy="237744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15184" y="2624328"/>
            <a:ext cx="411480" cy="4114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33472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Limpieza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33472" y="350215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Eliminar duplicados. Renombrar siglas: M → Male, F → Female. Crear columna Age Brackets (rangos de edad) con SI anidado para segmentar por edad.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44568" y="3703320"/>
            <a:ext cx="146304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2514600"/>
            <a:ext cx="1965960" cy="237744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87752"/>
            <a:ext cx="484632" cy="484632"/>
          </a:xfrm>
          <a:prstGeom prst="ellipse">
            <a:avLst/>
          </a:prstGeom>
          <a:solidFill>
            <a:srgbClr val="0F1923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1456" y="2624328"/>
            <a:ext cx="411480" cy="4114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9744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Tablas dinámicas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9744" y="350215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5 tablas cruzando Purchased Bike (compró o no compró) con las 6 variables: género, Age Brackets (rangos de edad), distancia al trabajo, nº de coches y región.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3703320"/>
            <a:ext cx="146304" cy="0"/>
          </a:xfrm>
          <a:prstGeom prst="line">
            <a:avLst/>
          </a:prstGeom>
          <a:noFill/>
          <a:ln w="19050">
            <a:solidFill>
              <a:srgbClr val="00B8A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4576" y="2514600"/>
            <a:ext cx="1965960" cy="237744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67728" y="2624328"/>
            <a:ext cx="411480" cy="4114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86016" y="31363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86016" y="3502152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Hoja dashboard_insights con todos los gráficos centralizados. Visión rápida del perfil del cliente comprador.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8A9"/>
                </a:solidFill>
              </a:rPr>
              <a:t>SEGMENTOS DE EDAD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07008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207008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Adult Rider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</a:rPr>
              <a:t>36–50 años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645920"/>
            <a:ext cx="50292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645920"/>
            <a:ext cx="2750972" cy="201168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418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A9"/>
                </a:solidFill>
              </a:rPr>
              <a:t>54.7%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89320" y="13990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</a:rPr>
              <a:t>compran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95160" y="9601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Motor de ventas. Más de 5 de cada 10 compran. Segmento prioritario en publicidad.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8595360" cy="1207008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64008" cy="1207008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Young Rider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</a:rPr>
              <a:t>&lt; 36 años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017520"/>
            <a:ext cx="50292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017520"/>
            <a:ext cx="2258111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3134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</a:rPr>
              <a:t>44.9%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89320" y="2770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</a:rPr>
              <a:t>compran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23317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La bici es frecuentemente su único medio de transporte.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8595360" cy="1207008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64008" cy="1207008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Senior Rider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</a:rPr>
              <a:t>51+ años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" y="4389120"/>
            <a:ext cx="50292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4389120"/>
            <a:ext cx="2006651" cy="201168"/>
          </a:xfrm>
          <a:prstGeom prst="rect">
            <a:avLst/>
          </a:prstGeom>
          <a:solidFill>
            <a:srgbClr val="FF8B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6850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B4C"/>
                </a:solidFill>
              </a:rPr>
              <a:t>39.9%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89320" y="4142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</a:rPr>
              <a:t>compran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7033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Tasa de rechazo del 60%. Los que viven cerca prefieren caminar; los que viven lejos ven el esfuerzo físico como barrera. Solución: bici eléctrica.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8A9"/>
                </a:solidFill>
              </a:rPr>
              <a:t>REGIÓN &amp; GÉNERO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64008" cy="50292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Distribución por región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Pacific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11% del total de clientes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18288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554480"/>
            <a:ext cx="1078992" cy="201168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08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</a:rPr>
              <a:t>59%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Europe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15% del total de clientes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2560320"/>
            <a:ext cx="18288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560320"/>
            <a:ext cx="896112" cy="201168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514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</a:rPr>
              <a:t>49%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North America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</a:rPr>
              <a:t>22% del total de clientes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3566160"/>
            <a:ext cx="1828800" cy="201168"/>
          </a:xfrm>
          <a:prstGeom prst="rect">
            <a:avLst/>
          </a:prstGeom>
          <a:solidFill>
            <a:srgbClr val="1E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3566160"/>
            <a:ext cx="786384" cy="201168"/>
          </a:xfrm>
          <a:prstGeom prst="rect">
            <a:avLst/>
          </a:prstGeom>
          <a:solidFill>
            <a:srgbClr val="FF8B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520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B4C"/>
                </a:solidFill>
              </a:rPr>
              <a:t>43%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4297680"/>
            <a:ext cx="4297680" cy="640080"/>
          </a:xfrm>
          <a:prstGeom prst="rect">
            <a:avLst/>
          </a:prstGeom>
          <a:solidFill>
            <a:srgbClr val="0D2030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297680"/>
            <a:ext cx="64008" cy="64008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97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518"/>
                </a:solidFill>
              </a:rPr>
              <a:t>Pacific es el mercado más pequeño (11%) pero donde más gente acaba comprando (59%). Oportunidad: aumentar inversión publicitaria.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0" cy="4114800"/>
          </a:xfrm>
          <a:prstGeom prst="line">
            <a:avLst/>
          </a:prstGeom>
          <a:noFill/>
          <a:ln w="19050">
            <a:solidFill>
              <a:srgbClr val="1E33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822960"/>
            <a:ext cx="64008" cy="50292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822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Comportamiento por género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0" y="1508760"/>
            <a:ext cx="1645920" cy="1645920"/>
          </a:xfrm>
          <a:prstGeom prst="ellipse">
            <a:avLst/>
          </a:prstGeom>
          <a:solidFill>
            <a:srgbClr val="182535"/>
          </a:solidFill>
          <a:ln w="38100">
            <a:solidFill>
              <a:srgbClr val="00B8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508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A9"/>
                </a:solidFill>
              </a:rPr>
              <a:t>47%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02920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Hombres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1508760"/>
            <a:ext cx="1645920" cy="1645920"/>
          </a:xfrm>
          <a:prstGeom prst="ellipse">
            <a:avLst/>
          </a:prstGeom>
          <a:solidFill>
            <a:srgbClr val="182535"/>
          </a:solidFill>
          <a:ln w="381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508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C518"/>
                </a:solidFill>
              </a:rPr>
              <a:t>49%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4944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</a:rPr>
              <a:t>Mujeres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</a:rPr>
              <a:t>compran bici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749040"/>
            <a:ext cx="3840480" cy="5943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749040"/>
            <a:ext cx="64008" cy="59436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El género no es un factor determinante. La oferta es atractiva para ambos perfiles por igual.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82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8A9"/>
                </a:solidFill>
              </a:rPr>
              <a:t>ESTRUCTURA DEL LIBRO EXCEL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676656"/>
          </a:xfrm>
          <a:prstGeom prst="rect">
            <a:avLst/>
          </a:prstGeom>
          <a:solidFill>
            <a:srgbClr val="7A9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96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datos_crudos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Dataset original. Nunca se modifica.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9344"/>
            <a:ext cx="54864" cy="676656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82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hoja_trabajo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Copia limpia. Todo el trabajo se opera aquí.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95728"/>
            <a:ext cx="54864" cy="676656"/>
          </a:xfrm>
          <a:prstGeom prst="rect">
            <a:avLst/>
          </a:prstGeom>
          <a:solidFill>
            <a:srgbClr val="7A9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leyenda_variables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Descripción de cada variable del dataset.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82112"/>
            <a:ext cx="54864" cy="67665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tabla_género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529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 smtClean="0">
                <a:solidFill>
                  <a:srgbClr val="C8D8E8"/>
                </a:solidFill>
              </a:rPr>
              <a:t>Tabla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 err="1" smtClean="0">
                <a:solidFill>
                  <a:srgbClr val="C8D8E8"/>
                </a:solidFill>
              </a:rPr>
              <a:t>dinámica</a:t>
            </a:r>
            <a:r>
              <a:rPr lang="en-US" sz="950" dirty="0" smtClean="0">
                <a:solidFill>
                  <a:srgbClr val="C8D8E8"/>
                </a:solidFill>
              </a:rPr>
              <a:t>: </a:t>
            </a:r>
            <a:r>
              <a:rPr lang="en-US" sz="950" dirty="0" err="1" smtClean="0">
                <a:solidFill>
                  <a:srgbClr val="C8D8E8"/>
                </a:solidFill>
              </a:rPr>
              <a:t>c</a:t>
            </a:r>
            <a:r>
              <a:rPr lang="en-US" sz="950" dirty="0" err="1" smtClean="0">
                <a:solidFill>
                  <a:srgbClr val="C8D8E8"/>
                </a:solidFill>
              </a:rPr>
              <a:t>ompras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>
                <a:solidFill>
                  <a:srgbClr val="C8D8E8"/>
                </a:solidFill>
              </a:rPr>
              <a:t>por género.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68496"/>
            <a:ext cx="54864" cy="67665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41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tabla_edad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4315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 smtClean="0">
                <a:solidFill>
                  <a:srgbClr val="C8D8E8"/>
                </a:solidFill>
              </a:rPr>
              <a:t>Tabla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 err="1" smtClean="0">
                <a:solidFill>
                  <a:srgbClr val="C8D8E8"/>
                </a:solidFill>
              </a:rPr>
              <a:t>dinámica</a:t>
            </a:r>
            <a:r>
              <a:rPr lang="en-US" sz="950" dirty="0" smtClean="0">
                <a:solidFill>
                  <a:srgbClr val="C8D8E8"/>
                </a:solidFill>
              </a:rPr>
              <a:t>: </a:t>
            </a:r>
            <a:r>
              <a:rPr lang="en-US" sz="950" dirty="0" err="1" smtClean="0">
                <a:solidFill>
                  <a:srgbClr val="C8D8E8"/>
                </a:solidFill>
              </a:rPr>
              <a:t>compras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>
                <a:solidFill>
                  <a:srgbClr val="C8D8E8"/>
                </a:solidFill>
              </a:rPr>
              <a:t>por grupo de edad.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54864" cy="67665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896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tabla_millas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 smtClean="0">
                <a:solidFill>
                  <a:srgbClr val="C8D8E8"/>
                </a:solidFill>
              </a:rPr>
              <a:t>Tabla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 err="1" smtClean="0">
                <a:solidFill>
                  <a:srgbClr val="C8D8E8"/>
                </a:solidFill>
              </a:rPr>
              <a:t>dinámica</a:t>
            </a:r>
            <a:r>
              <a:rPr lang="en-US" sz="950" dirty="0" smtClean="0">
                <a:solidFill>
                  <a:srgbClr val="C8D8E8"/>
                </a:solidFill>
              </a:rPr>
              <a:t>: </a:t>
            </a:r>
            <a:r>
              <a:rPr lang="en-US" sz="950" dirty="0" err="1" smtClean="0">
                <a:solidFill>
                  <a:srgbClr val="C8D8E8"/>
                </a:solidFill>
              </a:rPr>
              <a:t>distancia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>
                <a:solidFill>
                  <a:srgbClr val="C8D8E8"/>
                </a:solidFill>
              </a:rPr>
              <a:t>al trabajo.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609344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609344"/>
            <a:ext cx="54864" cy="67665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682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tabla_coches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1956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 smtClean="0">
                <a:solidFill>
                  <a:srgbClr val="C8D8E8"/>
                </a:solidFill>
              </a:rPr>
              <a:t>Tabla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 err="1" smtClean="0">
                <a:solidFill>
                  <a:srgbClr val="C8D8E8"/>
                </a:solidFill>
              </a:rPr>
              <a:t>dinámica</a:t>
            </a:r>
            <a:r>
              <a:rPr lang="en-US" sz="950" dirty="0" smtClean="0">
                <a:solidFill>
                  <a:srgbClr val="C8D8E8"/>
                </a:solidFill>
              </a:rPr>
              <a:t>: </a:t>
            </a:r>
            <a:r>
              <a:rPr lang="en-US" sz="950" dirty="0" err="1" smtClean="0">
                <a:solidFill>
                  <a:srgbClr val="C8D8E8"/>
                </a:solidFill>
              </a:rPr>
              <a:t>número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>
                <a:solidFill>
                  <a:srgbClr val="C8D8E8"/>
                </a:solidFill>
              </a:rPr>
              <a:t>de coches en el hogar.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395728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395728"/>
            <a:ext cx="54864" cy="676656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tabla_regiones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56048" y="2743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 smtClean="0">
                <a:solidFill>
                  <a:srgbClr val="C8D8E8"/>
                </a:solidFill>
              </a:rPr>
              <a:t>Tabla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 err="1" smtClean="0">
                <a:solidFill>
                  <a:srgbClr val="C8D8E8"/>
                </a:solidFill>
              </a:rPr>
              <a:t>dinámica</a:t>
            </a:r>
            <a:r>
              <a:rPr lang="en-US" sz="950" dirty="0" smtClean="0">
                <a:solidFill>
                  <a:srgbClr val="C8D8E8"/>
                </a:solidFill>
              </a:rPr>
              <a:t>: </a:t>
            </a:r>
            <a:r>
              <a:rPr lang="en-US" sz="950" dirty="0" err="1" smtClean="0">
                <a:solidFill>
                  <a:srgbClr val="C8D8E8"/>
                </a:solidFill>
              </a:rPr>
              <a:t>distribución</a:t>
            </a:r>
            <a:r>
              <a:rPr lang="en-US" sz="950" dirty="0" smtClean="0">
                <a:solidFill>
                  <a:srgbClr val="C8D8E8"/>
                </a:solidFill>
              </a:rPr>
              <a:t> </a:t>
            </a:r>
            <a:r>
              <a:rPr lang="en-US" sz="950" dirty="0">
                <a:solidFill>
                  <a:srgbClr val="C8D8E8"/>
                </a:solidFill>
              </a:rPr>
              <a:t>geográfica.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182112"/>
            <a:ext cx="4114800" cy="676656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182112"/>
            <a:ext cx="54864" cy="676656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dashboard_insights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3529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Radiografía del cliente comprador. Todos los gráficos.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923"/>
                </a:solidFill>
              </a:rPr>
              <a:t>CONCLUSIONES &amp; RECOMENDACIONES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50876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150876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Adult Rider es el motor de ventas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Más de 5 de cada 10 compran. Priorizar este grupo en campañas publicitarias. Retorno más predecible.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50876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64008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Young Rider tiene una necesidad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La bici es su principal medio de transporte. Ofrecer el primer año de mantenimiento gratuito como palanca de cierre de venta.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50876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64008" cy="1508760"/>
          </a:xfrm>
          <a:prstGeom prst="rect">
            <a:avLst/>
          </a:prstGeom>
          <a:solidFill>
            <a:srgbClr val="FF8B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90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Senior Rider → bicicleta eléctrica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Tasa de rechazo del 60%. La bici eléctrica elimina la barrera del esfuerzo físico y amplía el radio de desplazamiento.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114800" cy="1508760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80360"/>
            <a:ext cx="64008" cy="1508760"/>
          </a:xfrm>
          <a:prstGeom prst="rect">
            <a:avLst/>
          </a:prstGeom>
          <a:solidFill>
            <a:srgbClr val="3DFA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990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🌏 Pacific: pequeño pero de alto valor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383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Solo el 11% de los clientes, pero el 59% compra. Aumentar inversión publicitaria en esta región ofrece un ROI (retorno sobre la inversión) alto.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7181F"/>
          </a:solidFill>
          <a:ln w="12700">
            <a:solidFill>
              <a:srgbClr val="00B8A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BB5"/>
                </a:solidFill>
              </a:rPr>
              <a:t>⚠️ Limitación: dataset simulado. Con datos reales, lo primero sería entender el problema de negocio antes de tocar los datos.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8A9"/>
                </a:solidFill>
              </a:rPr>
              <a:t>Proyecto disponible en GitHub /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4572000" cy="36576"/>
          </a:xfrm>
          <a:prstGeom prst="rect">
            <a:avLst/>
          </a:prstGeom>
          <a:solidFill>
            <a:srgbClr val="7A9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</a:rPr>
              <a:t>Dataset: </a:t>
            </a:r>
            <a:r>
              <a:rPr lang="en-US" sz="1100" dirty="0">
                <a:solidFill>
                  <a:srgbClr val="C8D8E8"/>
                </a:solidFill>
              </a:rPr>
              <a:t>Alex The Analyst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</a:rPr>
              <a:t>Herramienta: </a:t>
            </a:r>
            <a:r>
              <a:rPr lang="en-US" sz="1100" dirty="0">
                <a:solidFill>
                  <a:srgbClr val="C8D8E8"/>
                </a:solidFill>
              </a:rPr>
              <a:t>Microsoft Excel  ·  Tablas dinámicas  · 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🚲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681</Words>
  <Application>Microsoft Office PowerPoint</Application>
  <PresentationFormat>Presentación en pantalla (16:9)</PresentationFormat>
  <Paragraphs>106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Clientes — Tienda de Bicicletas</dc:title>
  <dc:subject>PptxGenJS Presentation</dc:subject>
  <dc:creator>PptxGenJS</dc:creator>
  <cp:lastModifiedBy>USER</cp:lastModifiedBy>
  <cp:revision>2</cp:revision>
  <dcterms:created xsi:type="dcterms:W3CDTF">2026-03-24T10:42:13Z</dcterms:created>
  <dcterms:modified xsi:type="dcterms:W3CDTF">2026-03-24T10:45:23Z</dcterms:modified>
</cp:coreProperties>
</file>